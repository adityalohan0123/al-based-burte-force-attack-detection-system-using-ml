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ed Hat Mono Bold" panose="02010509040201060303" pitchFamily="49" charset="0"/>
      <p:regular r:id="rId13"/>
    </p:embeddedFont>
    <p:embeddedFont>
      <p:font typeface="Figtree" pitchFamily="2" charset="0"/>
      <p:regular r:id="rId14"/>
    </p:embeddedFont>
    <p:embeddedFont>
      <p:font typeface="Figtree Bold" pitchFamily="2" charset="0"/>
      <p:regular r:id="rId15"/>
    </p:embeddedFont>
    <p:embeddedFont>
      <p:font typeface="Figtree SemiBold" pitchFamily="2" charset="0"/>
      <p:regular r:id="rId16"/>
    </p:embeddedFont>
    <p:embeddedFont>
      <p:font typeface="Red Hat Mono Medium" panose="02010509040201060303" pitchFamily="49" charset="0"/>
      <p:regular r:id="rId17"/>
    </p:embeddedFont>
    <p:embeddedFont>
      <p:font typeface="Urbanist Bold" panose="020B0A04040200000203" pitchFamily="34" charset="0"/>
      <p:regular r:id="rId18"/>
    </p:embeddedFont>
    <p:embeddedFont>
      <p:font typeface="Urbanist ExtraBold" panose="020B0A04040200000203" pitchFamily="34" charset="0"/>
      <p:regular r:id="rId19"/>
    </p:embeddedFont>
    <p:embeddedFont>
      <p:font typeface="Urbanist SemiBold" panose="020B0A04040200000203" pitchFamily="3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font" Target="fonts/font6.fntdata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font" Target="fonts/font5.fntdata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font" Target="fonts/font8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font" Target="fonts/font7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99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title and project scope. This presentation outlines an intelligent machine-learning approach to identifying brute-force credential attacks on authentication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brute-force attacks in plain terms: automated credential stuffing and password guessing. Highlight why manual reaction is too slow when scripts execute hundreds of guesses per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main barriers: overwhelming log scale, script execution speed, and the brittleness of static rules. Emphasize why intelligence must replace manual scrutiny.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each objective briefly. Stress that the goal is not only detecting the attack with machine learning, but also communicating clearly to operators with actionable warnings.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left to right: raw data ingestion, feature preprocessing, model scoring, and alert generation. Emphasize how each stage prepares structured input for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features capture user behavior versus robot behavior. Highlight attempts-per-minute and time-delta as high-leverage indicators of script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three classifiers: Logistic Regression as a fast linear baseline, Decision Tree for explainable logic, and Random Forest for ensemble accuracy and noise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normal user behavior with automated brute-force attacks. Emphasize that context matters: 45 failures in one minute is unmistakably non-human.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immediate benefits on the left and future engineering extensions on the right. Mention enterprise integrations like SIEM and NIDS as logical progression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core takeaways: machine learning moves cyber defense from reactive manual checking to proactive, pattern-based threat intelligence.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7" Type="http://schemas.openxmlformats.org/officeDocument/2006/relationships/image" Target="../media/image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28577"/>
            <a:ext cx="447028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kern="100" spc="-7" dirty="0">
                <a:solidFill>
                  <a:srgbClr val="1E2A44"/>
                </a:solidFill>
                <a:latin typeface="Urbanist Bold" pitchFamily="34" charset="0"/>
                <a:ea typeface="Urbanist Bold" pitchFamily="34" charset="-122"/>
                <a:cs typeface="Urbanist Bold" pitchFamily="34" charset="-120"/>
              </a:rPr>
              <a:t>B.Tech Cyber Security · AI Project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2222302"/>
            <a:ext cx="4216295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AI/ML-Based Brute-Force Attack Detection System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759523"/>
            <a:ext cx="4216295" cy="12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054798"/>
            <a:ext cx="447028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100" spc="66" dirty="0">
                <a:solidFill>
                  <a:srgbClr val="1E2A44"/>
                </a:solidFill>
                <a:latin typeface="Red Hat Mono Bold" pitchFamily="34" charset="0"/>
                <a:ea typeface="Red Hat Mono Bold" pitchFamily="34" charset="-122"/>
                <a:cs typeface="Red Hat Mono Bold" pitchFamily="34" charset="-120"/>
              </a:rPr>
              <a:t>ADITYA LOHAN </a:t>
            </a: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 · 02 · COER UNIVERSITY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3" y="0"/>
            <a:ext cx="71118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21023"/>
            <a:ext cx="589265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THREAT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71848"/>
            <a:ext cx="55878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Why brute-force detection matters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62448"/>
            <a:ext cx="5587860" cy="12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257723"/>
            <a:ext cx="558786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brute-force attack systematically attempts many password combinations until one succeeds, threatening critical systems, networks, and confidential data.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09585" y="3740845"/>
            <a:ext cx="5587860" cy="1121866"/>
          </a:xfrm>
          <a:prstGeom prst="roundRect">
            <a:avLst>
              <a:gd name="adj" fmla="val 19018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5479" y="3905945"/>
            <a:ext cx="515607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Repeated failure signatures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5479" y="4286250"/>
            <a:ext cx="515607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Rapid succession of authentication rejections is often the primary signal of automated exploitation.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9585" y="5015111"/>
            <a:ext cx="5587860" cy="1121866"/>
          </a:xfrm>
          <a:prstGeom prst="roundRect">
            <a:avLst>
              <a:gd name="adj" fmla="val 19018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479" y="5180211"/>
            <a:ext cx="515607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Continuous AI/ML monitoring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5479" y="5560516"/>
            <a:ext cx="515607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Machine learning monitors traffic profiles dynamically to spot subtle velocity patterns without human lag.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231" y="254000"/>
            <a:ext cx="518147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OPERATIONAL BOTTLENECKS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080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Manual monitoring cannot keep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9857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Modern organizations generate massive volumes of authentication events that overwhelm security teams relying on manual audits or rigid rules.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116336"/>
            <a:ext cx="3454314" cy="3907334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6278" y="2357636"/>
            <a:ext cx="292092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High Volume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76278" y="3586361"/>
            <a:ext cx="29209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Audit log overload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6278" y="4027686"/>
            <a:ext cx="292092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Security teams cannot manually inspect thousands of distributed login logs generated every second across multiple web services.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8691" y="2116336"/>
            <a:ext cx="3454314" cy="3907334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35384" y="2357636"/>
            <a:ext cx="292092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Rapid Speed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35384" y="3586361"/>
            <a:ext cx="29209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Automated tools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5384" y="4027686"/>
            <a:ext cx="292092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Adversaries use credential stuffing scripts that execute bursts of dozens of attempts per second, breaching accounts before analysts notice.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797" y="2116336"/>
            <a:ext cx="3454314" cy="3907334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94490" y="2357636"/>
            <a:ext cx="292092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Rigid Rules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94490" y="3586361"/>
            <a:ext cx="29209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Static thresholds fail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94490" y="4027686"/>
            <a:ext cx="292092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Simple static rules (e.g., lock after 5 fails) miss slow-and-low distributed attacks and flood administrators with false alarms.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585" y="619512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Conclusion: An automated, intelligent machine-learning detector is required to evaluate behavioral patterns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PROJECT 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080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What the system should achieve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98575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proposed architecture focuses on automated behavioral classification and accessible alert generation.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1821755"/>
            <a:ext cx="1950691" cy="4579045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" y="2037655"/>
            <a:ext cx="476238" cy="476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5479" y="2625030"/>
            <a:ext cx="151890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Detect behavior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5479" y="3005336"/>
            <a:ext cx="1518902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Identify unusual anomalies and abnormal login frequencies instantly.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64969" y="1821755"/>
            <a:ext cx="1950691" cy="4579045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864" y="2037655"/>
            <a:ext cx="476238" cy="4762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80864" y="2625030"/>
            <a:ext cx="151890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Isolate attacks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80864" y="3005336"/>
            <a:ext cx="1518902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Pinpoint targeted brute-force spikes against user accounts.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120353" y="1821755"/>
            <a:ext cx="1950889" cy="4579045"/>
          </a:xfrm>
          <a:prstGeom prst="roundRect">
            <a:avLst>
              <a:gd name="adj" fmla="val 1093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248" y="2037655"/>
            <a:ext cx="476238" cy="4762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6248" y="2625030"/>
            <a:ext cx="15191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Classify with ML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336248" y="3249116"/>
            <a:ext cx="151910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Apply lightweight classification algorithms for real-time decisions.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75936" y="1821755"/>
            <a:ext cx="1950691" cy="4579045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830" y="2037655"/>
            <a:ext cx="476238" cy="4762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91830" y="2625030"/>
            <a:ext cx="151890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Cut manual work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591830" y="3249116"/>
            <a:ext cx="1518902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Minimize tedious human log reviews and false alert fatigue.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631320" y="1821755"/>
            <a:ext cx="1950790" cy="4579045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7215" y="2037655"/>
            <a:ext cx="476238" cy="4762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847215" y="2625030"/>
            <a:ext cx="15190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Actionable alerts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847215" y="3249116"/>
            <a:ext cx="1519001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Display plain, understandable security alerts for fast incident response.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END-TO-END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080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From login activity to security alert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9857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six-stage machine learning workflow converts raw authentication packets into immediate threat intelligence.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116336"/>
            <a:ext cx="1701757" cy="2227858"/>
          </a:xfrm>
          <a:prstGeom prst="roundRect">
            <a:avLst>
              <a:gd name="adj" fmla="val 125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681" y="2306836"/>
            <a:ext cx="8122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4681" y="2573536"/>
            <a:ext cx="1371566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8" name="Text 6"/>
          <p:cNvSpPr/>
          <p:nvPr/>
        </p:nvSpPr>
        <p:spPr>
          <a:xfrm>
            <a:off x="774681" y="2706886"/>
            <a:ext cx="137156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Collect Logs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681" y="3087191"/>
            <a:ext cx="1371566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Ingest authentication packets and server access requests.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3738" y="2116336"/>
            <a:ext cx="1701757" cy="2227858"/>
          </a:xfrm>
          <a:prstGeom prst="roundRect">
            <a:avLst>
              <a:gd name="adj" fmla="val 125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8834" y="2306836"/>
            <a:ext cx="8412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28834" y="2573536"/>
            <a:ext cx="1371566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2628834" y="2706886"/>
            <a:ext cx="137156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Clean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28834" y="3087191"/>
            <a:ext cx="1371566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Normalize timestamps, resolve missing values, and structure events.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7892" y="2116336"/>
            <a:ext cx="1701757" cy="2227858"/>
          </a:xfrm>
          <a:prstGeom prst="roundRect">
            <a:avLst>
              <a:gd name="adj" fmla="val 125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2988" y="2306836"/>
            <a:ext cx="8374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82988" y="2573536"/>
            <a:ext cx="1371566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8" name="Text 16"/>
          <p:cNvSpPr/>
          <p:nvPr/>
        </p:nvSpPr>
        <p:spPr>
          <a:xfrm>
            <a:off x="4482988" y="2706886"/>
            <a:ext cx="137156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Extract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2988" y="3330972"/>
            <a:ext cx="1371566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Compute login velocity, error frequencies, and origin reputation.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046" y="2116336"/>
            <a:ext cx="1701757" cy="2227858"/>
          </a:xfrm>
          <a:prstGeom prst="roundRect">
            <a:avLst>
              <a:gd name="adj" fmla="val 125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7141" y="2306836"/>
            <a:ext cx="85216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37141" y="2573536"/>
            <a:ext cx="1371566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3" name="Text 21"/>
          <p:cNvSpPr/>
          <p:nvPr/>
        </p:nvSpPr>
        <p:spPr>
          <a:xfrm>
            <a:off x="6337141" y="2706886"/>
            <a:ext cx="137156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Run ML Model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37141" y="3087191"/>
            <a:ext cx="1371566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Pass behavioral vectors through the trained classifier.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26199" y="2116336"/>
            <a:ext cx="1701757" cy="2227858"/>
          </a:xfrm>
          <a:prstGeom prst="roundRect">
            <a:avLst>
              <a:gd name="adj" fmla="val 125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1295" y="2306836"/>
            <a:ext cx="8426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191295" y="2573536"/>
            <a:ext cx="1371566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8" name="Text 26"/>
          <p:cNvSpPr/>
          <p:nvPr/>
        </p:nvSpPr>
        <p:spPr>
          <a:xfrm>
            <a:off x="8191295" y="2706886"/>
            <a:ext cx="137156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Predict State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91295" y="3087191"/>
            <a:ext cx="1371566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Assign probabilistic labels: Normal vs. Suspicious activity.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80353" y="2116336"/>
            <a:ext cx="1701757" cy="2227858"/>
          </a:xfrm>
          <a:prstGeom prst="roundRect">
            <a:avLst>
              <a:gd name="adj" fmla="val 1253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45449" y="2306836"/>
            <a:ext cx="8418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045449" y="2573536"/>
            <a:ext cx="1371566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3" name="Text 31"/>
          <p:cNvSpPr/>
          <p:nvPr/>
        </p:nvSpPr>
        <p:spPr>
          <a:xfrm>
            <a:off x="10045449" y="2706886"/>
            <a:ext cx="137156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Trigger Alert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45449" y="3087191"/>
            <a:ext cx="1371566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Dispatch automated notices and incident flags to operators.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9585" y="619512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Linear pipeline ensures low processing latency for enterprise boundary gateways.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INPUT VARIABLES &amp;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826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Features reveal login behavior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7317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Machine learning algorithms differentiate normal user errors from automated attacks using targeted temporal and statistical indicators.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065536"/>
            <a:ext cx="3479713" cy="2104132"/>
          </a:xfrm>
          <a:prstGeom prst="roundRect">
            <a:avLst>
              <a:gd name="adj" fmla="val 10140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5479" y="2230636"/>
            <a:ext cx="304792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Failed &amp; successful attempt counts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5479" y="2854722"/>
            <a:ext cx="3047924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Ratio of failed attempts relative to successful sessions across rolling time windows.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1694" y="2065536"/>
            <a:ext cx="3479713" cy="2104132"/>
          </a:xfrm>
          <a:prstGeom prst="roundRect">
            <a:avLst>
              <a:gd name="adj" fmla="val 10140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7588" y="2230636"/>
            <a:ext cx="30479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Attempts per minute (Velocity)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57588" y="2610941"/>
            <a:ext cx="304792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Authentication request rate indicating automated credential stuffing tools.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5" y="4322068"/>
            <a:ext cx="3479713" cy="2104132"/>
          </a:xfrm>
          <a:prstGeom prst="roundRect">
            <a:avLst>
              <a:gd name="adj" fmla="val 10140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479" y="4487168"/>
            <a:ext cx="30479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Unique usernames per 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479" y="4867473"/>
            <a:ext cx="304792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Detects password-spraying attacks that target multiple accounts from one source.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41694" y="4322068"/>
            <a:ext cx="3479713" cy="2104132"/>
          </a:xfrm>
          <a:prstGeom prst="roundRect">
            <a:avLst>
              <a:gd name="adj" fmla="val 10140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7588" y="4487168"/>
            <a:ext cx="30479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Time delta between requests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7588" y="4867473"/>
            <a:ext cx="304792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Sub-second inter-arrival intervals typical of machine-driven attack scripts.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26199" y="2065536"/>
            <a:ext cx="3555911" cy="4360664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1E2A44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67493" y="2306836"/>
            <a:ext cx="1737376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ln/>
          <a:effectLst>
            <a:outerShdw blurRad="127" dist="36830" dir="5400000" algn="bl" rotWithShape="0">
              <a:srgbClr val="1E2A44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81790" y="2363986"/>
            <a:ext cx="21183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67493" y="2687836"/>
            <a:ext cx="30733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Dataset Source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67493" y="3129161"/>
            <a:ext cx="3073323" cy="102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Experiments are conducted using public benchmark network datasets (such as UNSW-NB15 / KDD-CUP99 derivatives) or simulated educational lab authentication environments.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493" y="4268688"/>
            <a:ext cx="3073323" cy="1238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67493" y="4503638"/>
            <a:ext cx="307332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Origin analysis:</a:t>
            </a: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Flags unknown IP addresses vs. trusted enterprise subnets.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826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Comparing simple classification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7317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standard training and testing split helps evaluate three foundational machine learning algorithms on detection accuracy and interpretability.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065536"/>
            <a:ext cx="2628834" cy="1471116"/>
          </a:xfrm>
          <a:prstGeom prst="roundRect">
            <a:avLst>
              <a:gd name="adj" fmla="val 14503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681" y="2205236"/>
            <a:ext cx="8122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4681" y="2471936"/>
            <a:ext cx="2298543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8" name="Text 6"/>
          <p:cNvSpPr/>
          <p:nvPr/>
        </p:nvSpPr>
        <p:spPr>
          <a:xfrm>
            <a:off x="774681" y="2605286"/>
            <a:ext cx="229864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1. Preprocess &amp; Label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681" y="2985591"/>
            <a:ext cx="229864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Scale numerical metrics and encode binary labels.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0815" y="2065536"/>
            <a:ext cx="2628834" cy="1471116"/>
          </a:xfrm>
          <a:prstGeom prst="roundRect">
            <a:avLst>
              <a:gd name="adj" fmla="val 14503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5911" y="2205236"/>
            <a:ext cx="8412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55911" y="2471936"/>
            <a:ext cx="2298543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3555911" y="2605286"/>
            <a:ext cx="229864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2. Split Dataset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5911" y="2985591"/>
            <a:ext cx="229864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Partition into training (70-80%) and testing (20-30%) subsets.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046" y="2065536"/>
            <a:ext cx="2628834" cy="1471116"/>
          </a:xfrm>
          <a:prstGeom prst="roundRect">
            <a:avLst>
              <a:gd name="adj" fmla="val 14503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7141" y="2205236"/>
            <a:ext cx="8374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37141" y="2471936"/>
            <a:ext cx="2298543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8" name="Text 16"/>
          <p:cNvSpPr/>
          <p:nvPr/>
        </p:nvSpPr>
        <p:spPr>
          <a:xfrm>
            <a:off x="6337141" y="2605286"/>
            <a:ext cx="229864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3. Train Models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7141" y="2985591"/>
            <a:ext cx="229864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Fit Logistic Regression, Decision Tree, and Random Forest.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53276" y="2065536"/>
            <a:ext cx="2628834" cy="1471116"/>
          </a:xfrm>
          <a:prstGeom prst="roundRect">
            <a:avLst>
              <a:gd name="adj" fmla="val 14503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18372" y="2205236"/>
            <a:ext cx="85216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18372" y="2471936"/>
            <a:ext cx="2298543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3" name="Text 21"/>
          <p:cNvSpPr/>
          <p:nvPr/>
        </p:nvSpPr>
        <p:spPr>
          <a:xfrm>
            <a:off x="9118372" y="2605286"/>
            <a:ext cx="229864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4. Compare &amp; Choose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18372" y="2985591"/>
            <a:ext cx="229864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Benchmark confusion matrices and select optimal model.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585" y="3689052"/>
            <a:ext cx="3454314" cy="2737148"/>
          </a:xfrm>
          <a:prstGeom prst="roundRect">
            <a:avLst>
              <a:gd name="adj" fmla="val 7795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479" y="3879552"/>
            <a:ext cx="30225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5479" y="4259858"/>
            <a:ext cx="3022524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Linear baseline model. Fast computation, highly interpretable, best for linearly separable velocity thresholds.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68691" y="3689052"/>
            <a:ext cx="3454314" cy="2737148"/>
          </a:xfrm>
          <a:prstGeom prst="roundRect">
            <a:avLst>
              <a:gd name="adj" fmla="val 7795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84585" y="3879552"/>
            <a:ext cx="30225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84585" y="4259858"/>
            <a:ext cx="3022524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Hierarchical if-else rule structure. Easy to visualize security boundaries and audit reasoning paths.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7797" y="3689052"/>
            <a:ext cx="3454314" cy="2737148"/>
          </a:xfrm>
          <a:prstGeom prst="roundRect">
            <a:avLst>
              <a:gd name="adj" fmla="val 7795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43691" y="3879552"/>
            <a:ext cx="30225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43691" y="4259858"/>
            <a:ext cx="3022524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Ensemble of decision trees. Robust against noise and overfitting, making it ideal for real-world deployments.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18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DETECTION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826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The model turns patterns into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73175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Classifiers evaluate multidimensional login velocity to distinguish human mistakes from malicious attacks.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1745555"/>
            <a:ext cx="5333867" cy="4347964"/>
          </a:xfrm>
          <a:prstGeom prst="roundRect">
            <a:avLst>
              <a:gd name="adj" fmla="val 490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1677" y="2012255"/>
            <a:ext cx="1636771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ln/>
        </p:spPr>
      </p:sp>
      <p:sp>
        <p:nvSpPr>
          <p:cNvPr id="7" name="Text 5"/>
          <p:cNvSpPr/>
          <p:nvPr/>
        </p:nvSpPr>
        <p:spPr>
          <a:xfrm>
            <a:off x="1015975" y="2069405"/>
            <a:ext cx="20177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STATUS: BENIGN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1677" y="2393255"/>
            <a:ext cx="47496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Normal Activity Pattern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1677" y="2834580"/>
            <a:ext cx="47496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Typing mistakes, occasional forgotten passwords, and natural human intervals between re-attempts.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77" y="3479105"/>
            <a:ext cx="4749681" cy="1238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1677" y="3714055"/>
            <a:ext cx="4749681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Few varied login attempts (1–3 tries)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Extended time between inputs (&gt; 5 seconds)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Known corporate or residential IP addresses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01677" y="5583039"/>
            <a:ext cx="474968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✓ Classification: Normal Login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48244" y="1745555"/>
            <a:ext cx="5333867" cy="4347964"/>
          </a:xfrm>
          <a:prstGeom prst="roundRect">
            <a:avLst>
              <a:gd name="adj" fmla="val 4907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40336" y="2012255"/>
            <a:ext cx="2542020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ln/>
        </p:spPr>
      </p:sp>
      <p:sp>
        <p:nvSpPr>
          <p:cNvPr id="15" name="Text 12"/>
          <p:cNvSpPr/>
          <p:nvPr/>
        </p:nvSpPr>
        <p:spPr>
          <a:xfrm>
            <a:off x="6654634" y="2069405"/>
            <a:ext cx="29230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STATUS: THREAT DETECTED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40336" y="2393255"/>
            <a:ext cx="47496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Suspicious Attack Pattern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540336" y="2834580"/>
            <a:ext cx="47496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Automated wordlists and dictionary testing cycling through credentials rapidly.</a:t>
            </a:r>
            <a:endParaRPr lang="en-US" sz="15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336" y="3479105"/>
            <a:ext cx="4749681" cy="1238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40336" y="3714055"/>
            <a:ext cx="4749681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Many fast failures across multiple accounts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Sub-second intervals between attempts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Unknown or anomalous foreign IP ranges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540336" y="5583039"/>
            <a:ext cx="474968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</a:t>
            </a: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Potential Brute-Force Attack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09585" y="622052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Concrete evaluation rule: 45 failed login attempts in 60 seconds from an unknown IP address triggers an immediate critical security alert.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ROADMAP &amp;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080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Useful today, stronger tomorrow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9857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system offers immediate operational value while serving as a modular foundation for advanced enterprise defense.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116336"/>
            <a:ext cx="5257668" cy="4284464"/>
          </a:xfrm>
          <a:prstGeom prst="roundRect">
            <a:avLst>
              <a:gd name="adj" fmla="val 4980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077" y="2408436"/>
            <a:ext cx="462268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Current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27077" y="3078361"/>
            <a:ext cx="46226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Key Advantages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7077" y="3519686"/>
            <a:ext cx="4622684" cy="2276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Automated detection: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Replaces tedious manual inspection of authentication records.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Faster identification: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Recognizes suspicious velocity spikes within seconds.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Reduced fatigue: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Filters out routine errors to highlight true security incidents.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Accessible monitoring: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Practical design suitable for campus networks and web servers.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24442" y="2116336"/>
            <a:ext cx="5257668" cy="4284464"/>
          </a:xfrm>
          <a:prstGeom prst="roundRect">
            <a:avLst>
              <a:gd name="adj" fmla="val 4980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1934" y="2408436"/>
            <a:ext cx="462268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Future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641934" y="3078361"/>
            <a:ext cx="46226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41934" y="3519686"/>
            <a:ext cx="4622684" cy="2276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Streaming real-time pipelines: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Kafka or Redis message queues for instant packet scoring.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NIDS integration: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Connect model outputs directly into Snort or Suricata firewalls.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SIEM connectivity: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Export structured CEF/JSON alerts to Splunk or Wazuh.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Deep learning: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LSTM recurrent networks to learn complex temporal sequences.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06760"/>
            <a:ext cx="6705432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SUMMARY &amp;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157585"/>
            <a:ext cx="64006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Machine learning makes monitoring smarter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48185"/>
            <a:ext cx="6400640" cy="12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43460"/>
            <a:ext cx="6400640" cy="2276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Brute-force credential attacks remain a prevalent and dangerous entry vector in cyber security.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Machine learning analyzes behavioral patterns across frequency, timing, and source to reliably detect threats.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Automated pipelines eliminate manual monitoring blind spots and accelerate incident containment.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Intelligent classifiers establish a modern, scalable foundation for cyber-defense infrastructure.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585" y="4923135"/>
            <a:ext cx="6400640" cy="1254145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1270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1E2A44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0879" y="5113635"/>
            <a:ext cx="59180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000" dirty="0">
              <a:solidFill>
                <a:srgbClr val="1E2A44"/>
              </a:solidFill>
              <a:latin typeface="Urbanist SemiBold" pitchFamily="34" charset="0"/>
              <a:ea typeface="Urbanist SemiBold" pitchFamily="34" charset="-122"/>
              <a:cs typeface="Urbanist SemiBold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50879" y="5554960"/>
            <a:ext cx="615934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011" y="254000"/>
            <a:ext cx="4368691" cy="63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1268</Words>
  <Application>Microsoft Office PowerPoint</Application>
  <PresentationFormat>Widescreen</PresentationFormat>
  <Paragraphs>155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RAVI CHOUDHARY</dc:creator>
  <cp:lastModifiedBy>Aditya Lohan</cp:lastModifiedBy>
  <cp:revision>3</cp:revision>
  <dcterms:created xsi:type="dcterms:W3CDTF">2026-10-04T05:39:21Z</dcterms:created>
  <dcterms:modified xsi:type="dcterms:W3CDTF">2026-10-06T17:28:16Z</dcterms:modified>
</cp:coreProperties>
</file>